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65D"/>
        </a:solidFill>
      </p:bgPr>
    </p:bg>
    <p:spTree>
      <p:nvGrpSpPr>
        <p:cNvPr id="1" name=""/>
        <p:cNvGrpSpPr/>
        <p:nvPr/>
      </p:nvGrpSpPr>
      <p:grpSpPr>
        <a:xfrm>
          <a:off x="0" y="0"/>
          <a:ext cx="0" cy="0"/>
          <a:chOff x="0" y="0"/>
          <a:chExt cx="0" cy="0"/>
        </a:xfrm>
      </p:grpSpPr>
      <p:sp>
        <p:nvSpPr>
          <p:cNvPr id="2" name="Text 0"/>
          <p:cNvSpPr/>
          <p:nvPr/>
        </p:nvSpPr>
        <p:spPr>
          <a:xfrm>
            <a:off x="457200" y="1645920"/>
            <a:ext cx="8229600" cy="914400"/>
          </a:xfrm>
          <a:prstGeom prst="rect">
            <a:avLst/>
          </a:prstGeom>
          <a:noFill/>
          <a:ln/>
        </p:spPr>
        <p:txBody>
          <a:bodyPr wrap="square" rtlCol="0" anchor="ctr"/>
          <a:lstStyle/>
          <a:p>
            <a:pPr algn="l" indent="0" marL="0">
              <a:buNone/>
            </a:pPr>
            <a:r>
              <a:rPr lang="en-US" sz="3200" b="1" dirty="0">
                <a:solidFill>
                  <a:srgbClr val="FFFFFF"/>
                </a:solidFill>
              </a:rPr>
              <a:t>EU AI Act Compliance Briefing</a:t>
            </a:r>
            <a:endParaRPr lang="en-US" sz="3200" dirty="0"/>
          </a:p>
        </p:txBody>
      </p:sp>
      <p:sp>
        <p:nvSpPr>
          <p:cNvPr id="3" name="Text 1"/>
          <p:cNvSpPr/>
          <p:nvPr/>
        </p:nvSpPr>
        <p:spPr>
          <a:xfrm>
            <a:off x="457200" y="2743200"/>
            <a:ext cx="8229600" cy="731520"/>
          </a:xfrm>
          <a:prstGeom prst="rect">
            <a:avLst/>
          </a:prstGeom>
          <a:noFill/>
          <a:ln/>
        </p:spPr>
        <p:txBody>
          <a:bodyPr wrap="square" rtlCol="0" anchor="ctr"/>
          <a:lstStyle/>
          <a:p>
            <a:pPr algn="l" indent="0" marL="0">
              <a:buNone/>
            </a:pPr>
            <a:r>
              <a:rPr lang="en-US" sz="1500" dirty="0">
                <a:solidFill>
                  <a:srgbClr val="E2E8F0"/>
                </a:solidFill>
              </a:rPr>
              <a:t>Multi-Agent Pipeline Audit Outcomes</a:t>
            </a:r>
            <a:endParaRPr lang="en-US" sz="1500" dirty="0"/>
          </a:p>
          <a:p>
            <a:pPr algn="l" indent="0" marL="0">
              <a:buNone/>
            </a:pPr>
            <a:r>
              <a:rPr lang="en-US" sz="1500" dirty="0">
                <a:solidFill>
                  <a:srgbClr val="E2E8F0"/>
                </a:solidFill>
              </a:rPr>
              <a:t>Score: 75/100 | Status: ACTION REQUIRED</a:t>
            </a:r>
            <a:endParaRPr lang="en-US" sz="1500" dirty="0"/>
          </a:p>
        </p:txBody>
      </p:sp>
      <p:sp>
        <p:nvSpPr>
          <p:cNvPr id="4" name="Text 2"/>
          <p:cNvSpPr/>
          <p:nvPr/>
        </p:nvSpPr>
        <p:spPr>
          <a:xfrm>
            <a:off x="457200" y="4754880"/>
            <a:ext cx="8229600" cy="457200"/>
          </a:xfrm>
          <a:prstGeom prst="rect">
            <a:avLst/>
          </a:prstGeom>
          <a:noFill/>
          <a:ln/>
        </p:spPr>
        <p:txBody>
          <a:bodyPr wrap="square" rtlCol="0" anchor="ctr"/>
          <a:lstStyle/>
          <a:p>
            <a:pPr algn="l" indent="0" marL="0">
              <a:buNone/>
            </a:pPr>
            <a:r>
              <a:rPr lang="en-US" sz="1100" dirty="0">
                <a:solidFill>
                  <a:srgbClr val="CBD5E0"/>
                </a:solidFill>
              </a:rPr>
              <a:t>Assessed on: 23/05/2026 | Session: session_q4r78g50d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1. Extracted Use-Case Facts (Source: Input Parser)</a:t>
            </a:r>
            <a:endParaRPr lang="en-US" sz="1800" dirty="0"/>
          </a:p>
        </p:txBody>
      </p:sp>
      <p:sp>
        <p:nvSpPr>
          <p:cNvPr id="4" name="Text 2"/>
          <p:cNvSpPr/>
          <p:nvPr/>
        </p:nvSpPr>
        <p:spPr>
          <a:xfrm>
            <a:off x="457200" y="914400"/>
            <a:ext cx="8229600" cy="4114800"/>
          </a:xfrm>
          <a:prstGeom prst="rect">
            <a:avLst/>
          </a:prstGeom>
          <a:noFill/>
          <a:ln/>
        </p:spPr>
        <p:txBody>
          <a:bodyPr wrap="square" rtlCol="0" anchor="ctr"/>
          <a:lstStyle/>
          <a:p>
            <a:pPr indent="0" marL="0">
              <a:lnSpc>
                <a:spcPts val="2200"/>
              </a:lnSpc>
              <a:buNone/>
            </a:pPr>
            <a:r>
              <a:rPr lang="en-US" sz="1200" dirty="0">
                <a:solidFill>
                  <a:srgbClr val="2D3748"/>
                </a:solidFill>
              </a:rPr>
              <a:t>• Purpose: AI recruitment tool to scan and profile candidate CVs to predict job performance.</a:t>
            </a:r>
            <a:endParaRPr lang="en-US" sz="1200" dirty="0"/>
          </a:p>
          <a:p>
            <a:pPr indent="0" marL="0">
              <a:lnSpc>
                <a:spcPts val="2200"/>
              </a:lnSpc>
              <a:buNone/>
            </a:pPr>
            <a:r>
              <a:rPr lang="en-US" sz="1200" dirty="0">
                <a:solidFill>
                  <a:srgbClr val="2D3748"/>
                </a:solidFill>
              </a:rPr>
              <a:t>• Sector: Employment and HR / Candidate evaluation (High-Risk Category Annex III of AI Act).</a:t>
            </a:r>
            <a:endParaRPr lang="en-US" sz="1200" dirty="0"/>
          </a:p>
          <a:p>
            <a:pPr indent="0" marL="0">
              <a:lnSpc>
                <a:spcPts val="2200"/>
              </a:lnSpc>
              <a:buNone/>
            </a:pPr>
            <a:r>
              <a:rPr lang="en-US" sz="1200" dirty="0">
                <a:solidFill>
                  <a:srgbClr val="2D3748"/>
                </a:solidFill>
              </a:rPr>
              <a:t>• Targeted End-Users: Corporate HR recruitment managers.</a:t>
            </a:r>
            <a:endParaRPr lang="en-US" sz="1200" dirty="0"/>
          </a:p>
          <a:p>
            <a:pPr indent="0" marL="0">
              <a:lnSpc>
                <a:spcPts val="2200"/>
              </a:lnSpc>
              <a:buNone/>
            </a:pPr>
            <a:r>
              <a:rPr lang="en-US" sz="1200" dirty="0">
                <a:solidFill>
                  <a:srgbClr val="2D3748"/>
                </a:solidFill>
              </a:rPr>
              <a:t>• Affected Persons: Job applicants and candidates.</a:t>
            </a:r>
            <a:endParaRPr lang="en-US" sz="1200" dirty="0"/>
          </a:p>
          <a:p>
            <a:pPr indent="0" marL="0">
              <a:lnSpc>
                <a:spcPts val="2200"/>
              </a:lnSpc>
              <a:buNone/>
            </a:pPr>
            <a:r>
              <a:rPr lang="en-US" sz="1200" dirty="0">
                <a:solidFill>
                  <a:srgbClr val="2D3748"/>
                </a:solidFill>
              </a:rPr>
              <a:t>• Deployment Context: Hosted as a cloud SaaS recruitment platform accessible via web browser.</a:t>
            </a:r>
            <a:endParaRPr lang="en-US" sz="1200" dirty="0"/>
          </a:p>
          <a:p>
            <a:pPr indent="0" marL="0">
              <a:lnSpc>
                <a:spcPts val="2200"/>
              </a:lnSpc>
              <a:buNone/>
            </a:pPr>
            <a:r>
              <a:rPr lang="en-US" sz="1200" dirty="0">
                <a:solidFill>
                  <a:srgbClr val="2D3748"/>
                </a:solidFill>
              </a:rPr>
              <a:t>• Human Oversight Claims: Vague. HR managers can view scores and theoretically ignore them, but there is no built-in mechanism or operational rule ensuring human-in-the-loop validation of low-scored applicants.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2. EU AI Act Classification &amp; Citations (Source: Decision Tree)</a:t>
            </a:r>
            <a:endParaRPr lang="en-US" sz="1800" dirty="0"/>
          </a:p>
        </p:txBody>
      </p:sp>
      <p:sp>
        <p:nvSpPr>
          <p:cNvPr id="4" name="Text 2"/>
          <p:cNvSpPr/>
          <p:nvPr/>
        </p:nvSpPr>
        <p:spPr>
          <a:xfrm>
            <a:off x="457200" y="822960"/>
            <a:ext cx="8229600" cy="274320"/>
          </a:xfrm>
          <a:prstGeom prst="rect">
            <a:avLst/>
          </a:prstGeom>
          <a:noFill/>
          <a:ln/>
        </p:spPr>
        <p:txBody>
          <a:bodyPr wrap="square" rtlCol="0" anchor="ctr"/>
          <a:lstStyle/>
          <a:p>
            <a:pPr indent="0" marL="0">
              <a:buNone/>
            </a:pPr>
            <a:r>
              <a:rPr lang="en-US" sz="1400" b="1" dirty="0">
                <a:solidFill>
                  <a:srgbClr val="1A365D"/>
                </a:solidFill>
              </a:rPr>
              <a:t>Preliminary Assessment Outcomes:</a:t>
            </a:r>
            <a:endParaRPr lang="en-US" sz="1400" dirty="0"/>
          </a:p>
        </p:txBody>
      </p:sp>
      <p:sp>
        <p:nvSpPr>
          <p:cNvPr id="5" name="Text 3"/>
          <p:cNvSpPr/>
          <p:nvPr/>
        </p:nvSpPr>
        <p:spPr>
          <a:xfrm>
            <a:off x="457200" y="1188720"/>
            <a:ext cx="8229600" cy="365760"/>
          </a:xfrm>
          <a:prstGeom prst="rect">
            <a:avLst/>
          </a:prstGeom>
          <a:noFill/>
          <a:ln/>
        </p:spPr>
        <p:txBody>
          <a:bodyPr wrap="square" rtlCol="0" anchor="ctr"/>
          <a:lstStyle/>
          <a:p>
            <a:pPr indent="0" marL="0">
              <a:buNone/>
            </a:pPr>
            <a:r>
              <a:rPr lang="en-US" sz="1300" b="1" dirty="0">
                <a:solidFill>
                  <a:srgbClr val="9B2C2C"/>
                </a:solidFill>
              </a:rPr>
              <a:t>High-Risk AI System (Article 6.2 - Annex III Point 4 Employment &amp; HR) with Integrated General Purpose AI (GPAI)</a:t>
            </a:r>
            <a:endParaRPr lang="en-US" sz="1300" dirty="0"/>
          </a:p>
        </p:txBody>
      </p:sp>
      <p:sp>
        <p:nvSpPr>
          <p:cNvPr id="6" name="Text 4"/>
          <p:cNvSpPr/>
          <p:nvPr/>
        </p:nvSpPr>
        <p:spPr>
          <a:xfrm>
            <a:off x="457200" y="1737360"/>
            <a:ext cx="8229600" cy="274320"/>
          </a:xfrm>
          <a:prstGeom prst="rect">
            <a:avLst/>
          </a:prstGeom>
          <a:noFill/>
          <a:ln/>
        </p:spPr>
        <p:txBody>
          <a:bodyPr wrap="square" rtlCol="0" anchor="ctr"/>
          <a:lstStyle/>
          <a:p>
            <a:pPr indent="0" marL="0">
              <a:buNone/>
            </a:pPr>
            <a:r>
              <a:rPr lang="en-US" sz="1400" b="1" dirty="0">
                <a:solidFill>
                  <a:srgbClr val="2D3748"/>
                </a:solidFill>
              </a:rPr>
              <a:t>Active Flowchart Branch Citations:</a:t>
            </a:r>
            <a:endParaRPr lang="en-US" sz="1400" dirty="0"/>
          </a:p>
        </p:txBody>
      </p:sp>
      <p:sp>
        <p:nvSpPr>
          <p:cNvPr id="7" name="Text 5"/>
          <p:cNvSpPr/>
          <p:nvPr/>
        </p:nvSpPr>
        <p:spPr>
          <a:xfrm>
            <a:off x="457200" y="2103120"/>
            <a:ext cx="8229600" cy="2926080"/>
          </a:xfrm>
          <a:prstGeom prst="rect">
            <a:avLst/>
          </a:prstGeom>
          <a:noFill/>
          <a:ln/>
        </p:spPr>
        <p:txBody>
          <a:bodyPr wrap="square" rtlCol="0" anchor="ctr"/>
          <a:lstStyle/>
          <a:p>
            <a:pPr indent="0" marL="0">
              <a:lnSpc>
                <a:spcPts val="1600"/>
              </a:lnSpc>
              <a:buNone/>
            </a:pPr>
            <a:r>
              <a:rPr lang="en-US" sz="1000" dirty="0">
                <a:solidFill>
                  <a:srgbClr val="4A5568"/>
                </a:solidFill>
              </a:rPr>
              <a:t>- Article 2 (Scope &amp; Exclusions check - Determines if the system's deployment affects the EU market)</a:t>
            </a:r>
            <a:endParaRPr lang="en-US" sz="1000" dirty="0"/>
          </a:p>
          <a:p>
            <a:pPr indent="0" marL="0">
              <a:lnSpc>
                <a:spcPts val="1600"/>
              </a:lnSpc>
              <a:buNone/>
            </a:pPr>
            <a:r>
              <a:rPr lang="en-US" sz="1000" dirty="0">
                <a:solidFill>
                  <a:srgbClr val="4A5568"/>
                </a:solidFill>
              </a:rPr>
              <a:t>- Article 6.2 (High-Risk - Systems designated under Annex III high-risk use-case domains)</a:t>
            </a:r>
            <a:endParaRPr lang="en-US" sz="1000" dirty="0"/>
          </a:p>
          <a:p>
            <a:pPr indent="0" marL="0">
              <a:lnSpc>
                <a:spcPts val="1600"/>
              </a:lnSpc>
              <a:buNone/>
            </a:pPr>
            <a:r>
              <a:rPr lang="en-US" sz="1000" dirty="0">
                <a:solidFill>
                  <a:srgbClr val="4A5568"/>
                </a:solidFill>
              </a:rPr>
              <a:t>- Articles 9-15 (High-Risk Requirements - Risk management, data governance, technical file, logging, human oversight)</a:t>
            </a:r>
            <a:endParaRPr lang="en-US" sz="1000" dirty="0"/>
          </a:p>
          <a:p>
            <a:pPr indent="0" marL="0">
              <a:lnSpc>
                <a:spcPts val="1600"/>
              </a:lnSpc>
              <a:buNone/>
            </a:pPr>
            <a:r>
              <a:rPr lang="en-US" sz="1000" dirty="0">
                <a:solidFill>
                  <a:srgbClr val="4A5568"/>
                </a:solidFill>
              </a:rPr>
              <a:t>- Article 26 (Deployer Obligations - Controls, monitoring, human oversight compliance for AI deployers)</a:t>
            </a:r>
            <a:endParaRPr lang="en-US" sz="1000" dirty="0"/>
          </a:p>
          <a:p>
            <a:pPr indent="0" marL="0">
              <a:lnSpc>
                <a:spcPts val="1600"/>
              </a:lnSpc>
              <a:buNone/>
            </a:pPr>
            <a:r>
              <a:rPr lang="en-US" sz="1000" dirty="0">
                <a:solidFill>
                  <a:srgbClr val="4A5568"/>
                </a:solidFill>
              </a:rPr>
              <a:t>- Article 99.4e (Fines - Specific penalty framework for Deployer non-compliance)</a:t>
            </a:r>
            <a:endParaRPr lang="en-US" sz="1000" dirty="0"/>
          </a:p>
          <a:p>
            <a:pPr indent="0" marL="0">
              <a:lnSpc>
                <a:spcPts val="1600"/>
              </a:lnSpc>
              <a:buNone/>
            </a:pPr>
            <a:r>
              <a:rPr lang="en-US" sz="1000" dirty="0">
                <a:solidFill>
                  <a:srgbClr val="4A5568"/>
                </a:solidFill>
              </a:rPr>
              <a:t>- Article 51 (GPAI Classification - Classification of foundation models with general capabilities)</a:t>
            </a:r>
            <a:endParaRPr lang="en-US" sz="1000" dirty="0"/>
          </a:p>
          <a:p>
            <a:pPr indent="0" marL="0">
              <a:lnSpc>
                <a:spcPts val="1600"/>
              </a:lnSpc>
              <a:buNone/>
            </a:pPr>
            <a:r>
              <a:rPr lang="en-US" sz="1000" dirty="0">
                <a:solidFill>
                  <a:srgbClr val="4A5568"/>
                </a:solidFill>
              </a:rPr>
              <a:t>- Article 52 (Transparency - Mandatory notification to human users interacting with AI systems)</a:t>
            </a:r>
            <a:endParaRPr lang="en-US" sz="1000" dirty="0"/>
          </a:p>
          <a:p>
            <a:pPr indent="0" marL="0">
              <a:lnSpc>
                <a:spcPts val="1600"/>
              </a:lnSpc>
              <a:buNone/>
            </a:pPr>
            <a:r>
              <a:rPr lang="en-US" sz="1000" dirty="0">
                <a:solidFill>
                  <a:srgbClr val="4A5568"/>
                </a:solidFill>
              </a:rPr>
              <a:t>- Article 53 (GPAI Provider obligations - Documentation for downstream integrators and copyright policies)</a:t>
            </a:r>
            <a:endParaRPr lang="en-US" sz="1000" dirty="0"/>
          </a:p>
          <a:p>
            <a:pPr indent="0" marL="0">
              <a:lnSpc>
                <a:spcPts val="1600"/>
              </a:lnSpc>
              <a:buNone/>
            </a:pPr>
            <a:r>
              <a:rPr lang="en-US" sz="1000" dirty="0">
                <a:solidFill>
                  <a:srgbClr val="4A5568"/>
                </a:solidFill>
              </a:rPr>
              <a:t>- Article 101 (GPAI Penalties - Non-compliance fines specifically for general purpose AI model providers)</a:t>
            </a:r>
            <a:endParaRPr lang="en-US" sz="1000" dirty="0"/>
          </a:p>
          <a:p>
            <a:pPr indent="0" marL="0">
              <a:lnSpc>
                <a:spcPts val="1600"/>
              </a:lnSpc>
              <a:buNone/>
            </a:pPr>
            <a:r>
              <a:rPr lang="en-US" sz="1000" dirty="0">
                <a:solidFill>
                  <a:srgbClr val="4A5568"/>
                </a:solidFill>
              </a:rPr>
              <a:t>- Chapter IX (Post-Market Surveillance - Conformance framework for monitoring, info sharing, and market oversight)</a:t>
            </a:r>
            <a:endParaRPr lang="en-US" sz="1000" dirty="0"/>
          </a:p>
          <a:p>
            <a:pPr indent="0" marL="0">
              <a:lnSpc>
                <a:spcPts val="1600"/>
              </a:lnSpc>
              <a:buNone/>
            </a:pPr>
            <a:r>
              <a:rPr lang="en-US" sz="1000" dirty="0">
                <a:solidFill>
                  <a:srgbClr val="4A5568"/>
                </a:solidFill>
              </a:rPr>
              <a:t>- Article 99 (General Penalties and Fines framework - Outlines overall administrative enforcement)</a:t>
            </a:r>
            <a:endParaRPr lang="en-US" sz="1000" dirty="0"/>
          </a:p>
          <a:p>
            <a:pPr indent="0" marL="0">
              <a:lnSpc>
                <a:spcPts val="1600"/>
              </a:lnSpc>
              <a:buNone/>
            </a:pPr>
            <a:r>
              <a:rPr lang="en-US" sz="1000" dirty="0">
                <a:solidFill>
                  <a:srgbClr val="4A5568"/>
                </a:solidFill>
              </a:rPr>
              <a:t>- EU Legal Supremacy Disclaimer (The AI Act operates alongside, and does not replace, other sectoral EU laws)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3. Deduced Governance Observations (Source: Judge of Governance)</a:t>
            </a:r>
            <a:endParaRPr lang="en-US" sz="1800" dirty="0"/>
          </a:p>
        </p:txBody>
      </p:sp>
      <p:sp>
        <p:nvSpPr>
          <p:cNvPr id="4" name="Text 2"/>
          <p:cNvSpPr/>
          <p:nvPr/>
        </p:nvSpPr>
        <p:spPr>
          <a:xfrm>
            <a:off x="457200" y="914400"/>
            <a:ext cx="8229600" cy="4114800"/>
          </a:xfrm>
          <a:prstGeom prst="rect">
            <a:avLst/>
          </a:prstGeom>
          <a:noFill/>
          <a:ln/>
        </p:spPr>
        <p:txBody>
          <a:bodyPr wrap="square" rtlCol="0" anchor="ctr"/>
          <a:lstStyle/>
          <a:p>
            <a:pPr indent="0" marL="0">
              <a:lnSpc>
                <a:spcPts val="1900"/>
              </a:lnSpc>
              <a:buNone/>
            </a:pPr>
            <a:r>
              <a:rPr lang="en-US" sz="1100" dirty="0">
                <a:solidFill>
                  <a:srgbClr val="2D3748"/>
                </a:solidFill>
              </a:rPr>
              <a:t>• Human Oversight Framework: Recruitment HR managers can ignore algorithm scores.</a:t>
            </a:r>
            <a:endParaRPr lang="en-US" sz="1100" dirty="0"/>
          </a:p>
          <a:p>
            <a:pPr indent="0" marL="0">
              <a:lnSpc>
                <a:spcPts val="1900"/>
              </a:lnSpc>
              <a:buNone/>
            </a:pPr>
            <a:r>
              <a:rPr lang="en-US" sz="1100" dirty="0">
                <a:solidFill>
                  <a:srgbClr val="2D3748"/>
                </a:solidFill>
              </a:rPr>
              <a:t>• Technical Documentation: Basic user onboarding documentation is ready.</a:t>
            </a:r>
            <a:endParaRPr lang="en-US" sz="1100" dirty="0"/>
          </a:p>
          <a:p>
            <a:pPr indent="0" marL="0">
              <a:lnSpc>
                <a:spcPts val="1900"/>
              </a:lnSpc>
              <a:buNone/>
            </a:pPr>
            <a:r>
              <a:rPr lang="en-US" sz="1100" dirty="0">
                <a:solidFill>
                  <a:srgbClr val="2D3748"/>
                </a:solidFill>
              </a:rPr>
              <a:t>• Transparency &amp; Disclosures: Privacy notice is displayed upon candidate login.</a:t>
            </a:r>
            <a:endParaRPr lang="en-US" sz="1100" dirty="0"/>
          </a:p>
          <a:p>
            <a:pPr indent="0" marL="0">
              <a:lnSpc>
                <a:spcPts val="1900"/>
              </a:lnSpc>
              <a:buNone/>
            </a:pPr>
            <a:r>
              <a:rPr lang="en-US" sz="1100" dirty="0">
                <a:solidFill>
                  <a:srgbClr val="2D3748"/>
                </a:solidFill>
              </a:rPr>
              <a:t>• Lifecycle Logging &amp; Traceability: RERUN_SUCCESS: Inferred system logs are stored in Amazon CloudWatch.</a:t>
            </a:r>
            <a:endParaRPr lang="en-US" sz="1100" dirty="0"/>
          </a:p>
          <a:p>
            <a:pPr indent="0" marL="0">
              <a:lnSpc>
                <a:spcPts val="1900"/>
              </a:lnSpc>
              <a:buNone/>
            </a:pPr>
            <a:r>
              <a:rPr lang="en-US" sz="1100" dirty="0">
                <a:solidFill>
                  <a:srgbClr val="2D3748"/>
                </a:solidFill>
              </a:rPr>
              <a:t>• Continuous Monitoring: OMITTED/GAPS</a:t>
            </a:r>
            <a:endParaRPr lang="en-US" sz="1100" dirty="0"/>
          </a:p>
          <a:p>
            <a:pPr indent="0" marL="0">
              <a:lnSpc>
                <a:spcPts val="1900"/>
              </a:lnSpc>
              <a:buNone/>
            </a:pPr>
            <a:r>
              <a:rPr lang="en-US" sz="1100" dirty="0">
                <a:solidFill>
                  <a:srgbClr val="2D3748"/>
                </a:solidFill>
              </a:rPr>
              <a:t>• Accountability structure: Recruiting director is responsible for algorithmic hiring review.</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1A365D"/>
          </a:solidFill>
          <a:ln/>
        </p:spPr>
      </p:sp>
      <p:sp>
        <p:nvSpPr>
          <p:cNvPr id="3" name="Text 1"/>
          <p:cNvSpPr/>
          <p:nvPr/>
        </p:nvSpPr>
        <p:spPr>
          <a:xfrm>
            <a:off x="457200" y="137160"/>
            <a:ext cx="8229600" cy="457200"/>
          </a:xfrm>
          <a:prstGeom prst="rect">
            <a:avLst/>
          </a:prstGeom>
          <a:noFill/>
          <a:ln/>
        </p:spPr>
        <p:txBody>
          <a:bodyPr wrap="square" rtlCol="0" anchor="ctr"/>
          <a:lstStyle/>
          <a:p>
            <a:pPr indent="0" marL="0">
              <a:buNone/>
            </a:pPr>
            <a:r>
              <a:rPr lang="en-US" sz="1800" b="1" dirty="0">
                <a:solidFill>
                  <a:srgbClr val="FFFFFF"/>
                </a:solidFill>
              </a:rPr>
              <a:t>4. Confidence Boundaries &amp; Auditing Queries</a:t>
            </a:r>
            <a:endParaRPr lang="en-US" sz="1800" dirty="0"/>
          </a:p>
        </p:txBody>
      </p:sp>
      <p:sp>
        <p:nvSpPr>
          <p:cNvPr id="4" name="Text 2"/>
          <p:cNvSpPr/>
          <p:nvPr/>
        </p:nvSpPr>
        <p:spPr>
          <a:xfrm>
            <a:off x="457200" y="822960"/>
            <a:ext cx="8229600" cy="274320"/>
          </a:xfrm>
          <a:prstGeom prst="rect">
            <a:avLst/>
          </a:prstGeom>
          <a:noFill/>
          <a:ln/>
        </p:spPr>
        <p:txBody>
          <a:bodyPr wrap="square" rtlCol="0" anchor="ctr"/>
          <a:lstStyle/>
          <a:p>
            <a:pPr indent="0" marL="0">
              <a:buNone/>
            </a:pPr>
            <a:r>
              <a:rPr lang="en-US" sz="1200" b="1" dirty="0">
                <a:solidFill>
                  <a:srgbClr val="C53030"/>
                </a:solidFill>
              </a:rPr>
              <a:t>Audit Findings: Identified 1 Assessment Gaps &amp; 7 Compliance Assumptions.</a:t>
            </a:r>
            <a:endParaRPr lang="en-US" sz="1200" dirty="0"/>
          </a:p>
        </p:txBody>
      </p:sp>
      <p:sp>
        <p:nvSpPr>
          <p:cNvPr id="5" name="Text 3"/>
          <p:cNvSpPr/>
          <p:nvPr/>
        </p:nvSpPr>
        <p:spPr>
          <a:xfrm>
            <a:off x="457200" y="1280160"/>
            <a:ext cx="8229600" cy="274320"/>
          </a:xfrm>
          <a:prstGeom prst="rect">
            <a:avLst/>
          </a:prstGeom>
          <a:noFill/>
          <a:ln/>
        </p:spPr>
        <p:txBody>
          <a:bodyPr wrap="square" rtlCol="0" anchor="ctr"/>
          <a:lstStyle/>
          <a:p>
            <a:pPr indent="0" marL="0">
              <a:buNone/>
            </a:pPr>
            <a:r>
              <a:rPr lang="en-US" sz="1300" b="1" dirty="0">
                <a:solidFill>
                  <a:srgbClr val="1A365D"/>
                </a:solidFill>
              </a:rPr>
              <a:t>Expert Regulatory Auditing Inquiries:</a:t>
            </a:r>
            <a:endParaRPr lang="en-US" sz="1300" dirty="0"/>
          </a:p>
        </p:txBody>
      </p:sp>
      <p:sp>
        <p:nvSpPr>
          <p:cNvPr id="6" name="Text 4"/>
          <p:cNvSpPr/>
          <p:nvPr/>
        </p:nvSpPr>
        <p:spPr>
          <a:xfrm>
            <a:off x="457200" y="1645920"/>
            <a:ext cx="8229600" cy="3200400"/>
          </a:xfrm>
          <a:prstGeom prst="rect">
            <a:avLst/>
          </a:prstGeom>
          <a:noFill/>
          <a:ln/>
        </p:spPr>
        <p:txBody>
          <a:bodyPr wrap="square" rtlCol="0" anchor="ctr"/>
          <a:lstStyle/>
          <a:p>
            <a:pPr indent="0" marL="0">
              <a:lnSpc>
                <a:spcPts val="1800"/>
              </a:lnSpc>
              <a:buNone/>
            </a:pPr>
            <a:r>
              <a:rPr lang="en-US" sz="1100" dirty="0">
                <a:solidFill>
                  <a:srgbClr val="2D3748"/>
                </a:solidFill>
              </a:rPr>
              <a:t>• 1. **Historical hiring and evaluation databases inherently encode race, gender, age, and regional biases. What rigorous mathematical audit methodology (e.g., disparate impact ratio, demographic parity checks) is being utilized to prevent the screening algorithm from codifying and perpetuating historical discrimination?**</a:t>
            </a:r>
            <a:endParaRPr lang="en-US" sz="1100" dirty="0"/>
          </a:p>
          <a:p>
            <a:pPr indent="0" marL="0">
              <a:lnSpc>
                <a:spcPts val="1800"/>
              </a:lnSpc>
              <a:buNone/>
            </a:pPr>
            <a:r>
              <a:rPr lang="en-US" sz="1100" dirty="0">
                <a:solidFill>
                  <a:srgbClr val="2D3748"/>
                </a:solidFill>
              </a:rPr>
              <a:t>• 2. **This CV ranking platform integrates third-party APIs (e.g., OpenAI GPT models) for capability extraction and candidate profiling. How will the team handle data leakage, prompt injections, and legal compliance boundaries if the upstream provider alters model weights or deprecates API endpoints?**</a:t>
            </a:r>
            <a:endParaRPr lang="en-US" sz="1100" dirty="0"/>
          </a:p>
          <a:p>
            <a:pPr indent="0" marL="0">
              <a:lnSpc>
                <a:spcPts val="1800"/>
              </a:lnSpc>
              <a:buNone/>
            </a:pPr>
            <a:r>
              <a:rPr lang="en-US" sz="1100" dirty="0">
                <a:solidFill>
                  <a:srgbClr val="2D3748"/>
                </a:solidFill>
              </a:rPr>
              <a:t>• 3. **Under Annex III, candidate profiling for recruitment is strictly classified as a High-Risk AI System. How will you organize the mandatory pre-market Fundamental Rights Impact Assessment (FRIA), register the system in the EU database, and compile the exhaustive technical file for regulatory inspection?**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2026-05-23T04:24:05Z</dcterms:created>
  <dcterms:modified xsi:type="dcterms:W3CDTF">2026-05-23T04:24:05Z</dcterms:modified>
</cp:coreProperties>
</file>